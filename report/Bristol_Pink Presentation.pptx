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1"/>
  </p:notesMasterIdLst>
  <p:sldIdLst>
    <p:sldId id="256" r:id="rId2"/>
    <p:sldId id="257" r:id="rId3"/>
    <p:sldId id="258" r:id="rId4"/>
    <p:sldId id="270" r:id="rId5"/>
    <p:sldId id="269" r:id="rId6"/>
    <p:sldId id="259" r:id="rId7"/>
    <p:sldId id="272" r:id="rId8"/>
    <p:sldId id="260" r:id="rId9"/>
    <p:sldId id="261" r:id="rId10"/>
    <p:sldId id="263" r:id="rId11"/>
    <p:sldId id="273" r:id="rId12"/>
    <p:sldId id="264" r:id="rId13"/>
    <p:sldId id="262" r:id="rId14"/>
    <p:sldId id="265" r:id="rId15"/>
    <p:sldId id="275" r:id="rId16"/>
    <p:sldId id="266" r:id="rId17"/>
    <p:sldId id="267" r:id="rId18"/>
    <p:sldId id="268" r:id="rId19"/>
    <p:sldId id="276" r:id="rId2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3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5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82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screenshot: 700f89e5-79bb-4162-a031-8fd301a68f7a.png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chart: 6ad685f36be9e73701a63740902f610f.png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Project structure based on user-provided brief and dashboard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System architecture based on user-provided Bristol-Pink_improved.py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Team-role summary based on user-stated presentation plan and dashboard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screenshots: 700f89e5-79bb-4162-a031-8fd301a68f7a.png, 0ad79ae4-e15d-4d9f-a2ad-4f4cc3d96666.png, a22f29c5-3fd3-476c-bb66-13681e06374a.png
- User-provided UI code screenshots: 8af83a7176be867ff15ceb4a4d58ed61.png, 6fe0d813448847991ddbef40375874ba.png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screenshots: 0ad79ae4-e15d-4d9f-a2ad-4f4cc3d96666.png, c87d241bc10807160df913fce5e9c6fa.png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charts: c87d241bc10807160df913fce5e9c6fa.png, 93eaeb84519916564957ae10c906f315.png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screenshot: 9e3ba6ba-16af-4498-818a-11701a444e90.png
- Back-end explanation based on user-provided Bristol-Pink_improved.py and separate test workflow discussed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screenshots: a22f29c5-3fd3-476c-bb66-13681e06374a.png, 3e8bbecc460ad2918d188aff6b73c778.png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screenshot: bceb599a-3bee-4205-8c0f-608ad8873887.png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screenshot: 9e3ba6ba-16af-4498-818a-11701a444e90.png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User-provided screenshots: 700f89e5-79bb-4162-a031-8fd301a68f7a.png, a22f29c5-3fd3-476c-bb66-13681e06374a.png, bceb599a-3bee-4205-8c0f-608ad8873887.png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932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547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522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749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731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210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267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570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676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050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389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6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algn="ct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861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87552"/>
            <a:ext cx="3730752" cy="5193792"/>
          </a:xfrm>
          <a:prstGeom prst="roundRect">
            <a:avLst>
              <a:gd name="adj" fmla="val 1716"/>
            </a:avLst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353312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Bristol-Pink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Bakery Sales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Prediction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3657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3F5"/>
                </a:solidFill>
              </a:rPr>
              <a:t>Historical analysis, 4-week forecasting and model evaluation in one integrated Streamlit 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736592"/>
            <a:ext cx="914400" cy="0"/>
          </a:xfrm>
          <a:prstGeom prst="line">
            <a:avLst/>
          </a:prstGeom>
          <a:noFill/>
          <a:ln w="12700">
            <a:solidFill>
              <a:srgbClr val="E47A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919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987552"/>
            <a:ext cx="7068312" cy="5193792"/>
          </a:xfrm>
          <a:prstGeom prst="roundRect">
            <a:avLst>
              <a:gd name="adj" fmla="val 88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mnt/data/700f89e5-79bb-4162-a031-8fd301a68f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756338"/>
            <a:ext cx="6611112" cy="34923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BUSINESS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b="1" dirty="0" smtClean="0">
              <a:solidFill>
                <a:srgbClr val="202A36"/>
              </a:solidFill>
            </a:endParaRPr>
          </a:p>
          <a:p>
            <a:pPr marL="0" indent="0">
              <a:buNone/>
            </a:pPr>
            <a:r>
              <a:rPr lang="en-US" sz="2300" b="1" dirty="0" smtClean="0">
                <a:solidFill>
                  <a:srgbClr val="202A36"/>
                </a:solidFill>
              </a:rPr>
              <a:t>Why </a:t>
            </a:r>
            <a:r>
              <a:rPr lang="en-US" sz="2300" b="1" dirty="0">
                <a:solidFill>
                  <a:srgbClr val="202A36"/>
                </a:solidFill>
              </a:rPr>
              <a:t>this project matters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4663440" cy="4553712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37944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Business problem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9776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02A36"/>
                </a:solidFill>
              </a:rPr>
              <a:t>Bakery and café products are perishable, so overproduction immediately turns into waste and avoidable cost.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02A36"/>
                </a:solidFill>
              </a:rPr>
              <a:t>Demand changes by day, by product and by short-term trend, which makes manual planning unreliable.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02A36"/>
                </a:solidFill>
              </a:rPr>
              <a:t>Managers need one place to review the recent sales pattern, compare products and inspect a short forecast.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02A36"/>
                </a:solidFill>
              </a:rPr>
              <a:t>The project therefore focuses on turning raw sales files into decisions about preparation and stocking.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5440680" y="1627632"/>
            <a:ext cx="6172200" cy="4553712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0" y="178308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1837944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Operational value</a:t>
            </a:r>
            <a:endParaRPr lang="en-US" sz="950" dirty="0"/>
          </a:p>
        </p:txBody>
      </p:sp>
      <p:pic>
        <p:nvPicPr>
          <p:cNvPr id="12" name="Image 0" descr="/mnt/data/6ad685f36be9e73701a63740902f61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326105"/>
            <a:ext cx="3566160" cy="27724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052560" y="2212848"/>
            <a:ext cx="21031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202A36"/>
                </a:solidFill>
              </a:rPr>
              <a:t>Forecast-led planning can reduce overproduction.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202A36"/>
                </a:solidFill>
              </a:rPr>
              <a:t>Historical fluctuations make staffing and purchasing easier to justify.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202A36"/>
                </a:solidFill>
              </a:rPr>
              <a:t>Evaluation metrics make the forecast more trustworthy than a black-box output.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PROJECT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b="1" dirty="0" smtClean="0">
              <a:solidFill>
                <a:srgbClr val="202A36"/>
              </a:solidFill>
            </a:endParaRPr>
          </a:p>
          <a:p>
            <a:pPr marL="0" indent="0">
              <a:buNone/>
            </a:pPr>
            <a:r>
              <a:rPr lang="en-US" sz="2300" b="1" dirty="0" smtClean="0">
                <a:solidFill>
                  <a:srgbClr val="202A36"/>
                </a:solidFill>
              </a:rPr>
              <a:t>Objectives </a:t>
            </a:r>
            <a:r>
              <a:rPr lang="en-US" sz="2300" b="1" dirty="0">
                <a:solidFill>
                  <a:srgbClr val="202A36"/>
                </a:solidFill>
              </a:rPr>
              <a:t>and key deliverables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27432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202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36"/>
                </a:solidFill>
              </a:rPr>
              <a:t>1. CSV ingestion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1762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084"/>
                </a:solidFill>
              </a:rPr>
              <a:t>Read uploaded food and coffee sales files and merge them into one analysis-ready dataset.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465576" y="1719072"/>
            <a:ext cx="2743200" cy="1481328"/>
          </a:xfrm>
          <a:prstGeom prst="roundRect">
            <a:avLst>
              <a:gd name="adj" fmla="val 3086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9202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36"/>
                </a:solidFill>
              </a:rPr>
              <a:t>2. Historical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1762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084"/>
                </a:solidFill>
              </a:rPr>
              <a:t>Show top products, trends and fluctuations in both chart and table formats.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64224" y="1719072"/>
            <a:ext cx="27432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19202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36"/>
                </a:solidFill>
              </a:rPr>
              <a:t>3. 4-week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21762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084"/>
                </a:solidFill>
              </a:rPr>
              <a:t>Generate a short-term forecast and allow users to inspect a selected forecast window.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262872" y="1719072"/>
            <a:ext cx="2743200" cy="1481328"/>
          </a:xfrm>
          <a:prstGeom prst="roundRect">
            <a:avLst>
              <a:gd name="adj" fmla="val 3086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09176" y="19202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36"/>
                </a:solidFill>
              </a:rPr>
              <a:t>4. 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09176" y="21762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17084"/>
                </a:solidFill>
              </a:rPr>
              <a:t>Compare models using MAE, RMSE and MAPE rather than relying on one unsupported output.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66928" y="3493008"/>
            <a:ext cx="11045952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648456"/>
            <a:ext cx="196596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703320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Why the final structure works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248" y="3968496"/>
            <a:ext cx="49377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A36"/>
                </a:solidFill>
              </a:rPr>
              <a:t>Separate workspaces avoid the clutter of a single long dashboard page.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A36"/>
                </a:solidFill>
              </a:rPr>
              <a:t>The same dataset can be reused for analysis, forecasting, evaluation and export.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2A36"/>
                </a:solidFill>
              </a:rPr>
              <a:t>This structure also makes the live presentation easier because each person can explain one clear module.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6D1"/>
                </a:solidFill>
              </a:rPr>
              <a:t>Dashboard workflow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187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544"/>
                </a:solidFill>
              </a:rPr>
              <a:t>Upload → Clean → Explore → Forecast → Evaluate → Export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4"/>
                </a:solidFill>
              </a:rPr>
              <a:t>This end-to-end flow is the main story of the project and the easiest way to explain team contributions.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6265" y="1615044"/>
            <a:ext cx="11008426" cy="35863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2. System Architect</a:t>
            </a:r>
            <a:endParaRPr lang="zh-CN" altLang="en-US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15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88775" y="729658"/>
            <a:ext cx="11029616" cy="569753"/>
          </a:xfrm>
        </p:spPr>
        <p:txBody>
          <a:bodyPr/>
          <a:lstStyle/>
          <a:p>
            <a:r>
              <a:rPr lang="en-US" altLang="zh-CN" dirty="0"/>
              <a:t>Team Roles and Collaboration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Yu Yunze :  Business background </a:t>
            </a:r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Cheng Jilong : System Architecture</a:t>
            </a:r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Xie Jiaqi: Front-end development; building the Streamlit interface </a:t>
            </a:r>
          </a:p>
          <a:p>
            <a:pPr marL="0" indent="0">
              <a:buNone/>
            </a:pPr>
            <a:endParaRPr lang="en-US" altLang="zh-CN" sz="2400" b="1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Nader – Back-end Development</a:t>
            </a:r>
            <a:br>
              <a:rPr lang="en-US" altLang="zh-CN" sz="2400" b="1" dirty="0"/>
            </a:b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Yang Haodong – Testing &amp; Evaluation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3893684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TECHNICAL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2A36"/>
                </a:solidFill>
              </a:rPr>
              <a:t>System architecture and data flow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altLang="zh-CN" sz="1200" dirty="0" smtClean="0"/>
          </a:p>
          <a:p>
            <a:r>
              <a:rPr lang="en-US" altLang="zh-CN" sz="1200" dirty="0" smtClean="0"/>
              <a:t>It </a:t>
            </a:r>
            <a:r>
              <a:rPr lang="en-US" altLang="zh-CN" sz="1200" dirty="0"/>
              <a:t>runs in a Streamlit application, with a clear separation between the UI, data processing, visualization, and evaluation modules</a:t>
            </a:r>
            <a:r>
              <a:rPr lang="en-US" altLang="zh-CN" sz="1200" dirty="0" smtClean="0"/>
              <a:t>.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57860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0848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6"/>
                </a:solidFill>
              </a:rPr>
              <a:t>UI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35915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17084"/>
                </a:solidFill>
              </a:rPr>
              <a:t>Layout, navigation, controls and page rendering.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310128" y="2450592"/>
            <a:ext cx="201168" cy="201168"/>
          </a:xfrm>
          <a:prstGeom prst="chevron">
            <a:avLst/>
          </a:prstGeom>
          <a:solidFill>
            <a:srgbClr val="E47A36"/>
          </a:solidFill>
          <a:ln w="12700">
            <a:solidFill>
              <a:srgbClr val="E47A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38728" y="1828800"/>
            <a:ext cx="2578608" cy="1444752"/>
          </a:xfrm>
          <a:prstGeom prst="roundRect">
            <a:avLst>
              <a:gd name="adj" fmla="val 3165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48456" y="20848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202A36"/>
                </a:solidFill>
              </a:rPr>
              <a:t>Back-end </a:t>
            </a:r>
            <a:r>
              <a:rPr lang="en-US" sz="1400" b="1" dirty="0">
                <a:solidFill>
                  <a:srgbClr val="202A36"/>
                </a:solidFill>
              </a:rPr>
              <a:t>logic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6744" y="235915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17084"/>
                </a:solidFill>
              </a:rPr>
              <a:t>CSV ingestion, cleaning and daily-series preparation.</a:t>
            </a:r>
            <a:endParaRPr lang="en-US" sz="1020" b="1" dirty="0"/>
          </a:p>
        </p:txBody>
      </p:sp>
      <p:sp>
        <p:nvSpPr>
          <p:cNvPr id="12" name="Shape 10"/>
          <p:cNvSpPr/>
          <p:nvPr/>
        </p:nvSpPr>
        <p:spPr>
          <a:xfrm>
            <a:off x="6190488" y="2450592"/>
            <a:ext cx="201168" cy="201168"/>
          </a:xfrm>
          <a:prstGeom prst="chevron">
            <a:avLst/>
          </a:prstGeom>
          <a:solidFill>
            <a:srgbClr val="E47A36"/>
          </a:solidFill>
          <a:ln w="12700">
            <a:solidFill>
              <a:srgbClr val="E47A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1828800"/>
            <a:ext cx="257860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8816" y="20848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6"/>
                </a:solidFill>
              </a:rPr>
              <a:t>Visualisation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47104" y="235915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17084"/>
                </a:solidFill>
              </a:rPr>
              <a:t>Historical, forecast and comparison charts</a:t>
            </a:r>
            <a:r>
              <a:rPr lang="en-US" sz="1020" dirty="0">
                <a:solidFill>
                  <a:srgbClr val="617084"/>
                </a:solidFill>
              </a:rPr>
              <a:t>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070848" y="2450592"/>
            <a:ext cx="201168" cy="201168"/>
          </a:xfrm>
          <a:prstGeom prst="chevron">
            <a:avLst/>
          </a:prstGeom>
          <a:solidFill>
            <a:srgbClr val="E47A36"/>
          </a:solidFill>
          <a:ln w="12700">
            <a:solidFill>
              <a:srgbClr val="E47A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99448" y="1828800"/>
            <a:ext cx="2578608" cy="1444752"/>
          </a:xfrm>
          <a:prstGeom prst="roundRect">
            <a:avLst>
              <a:gd name="adj" fmla="val 3165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09176" y="20848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6"/>
                </a:solidFill>
              </a:rPr>
              <a:t>Model &amp; evaluation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27464" y="235915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17084"/>
                </a:solidFill>
              </a:rPr>
              <a:t>Forecast generation, error calculation and model selection</a:t>
            </a:r>
            <a:r>
              <a:rPr lang="en-US" sz="1020" dirty="0">
                <a:solidFill>
                  <a:srgbClr val="617084"/>
                </a:solidFill>
              </a:rPr>
              <a:t>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3675888"/>
            <a:ext cx="1097280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694176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529584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How data moves through the app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9264" y="4279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D1"/>
                </a:solidFill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25296" y="42611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02A36"/>
                </a:solidFill>
              </a:rPr>
              <a:t>CSV files are uploaded through the sidebar and passed into the loading function.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4041648" y="4279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D1"/>
                </a:solidFill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297680" y="42611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02A36"/>
                </a:solidFill>
              </a:rPr>
              <a:t>The files are cleaned, converted into a unified structure and filtered by date range.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7333488" y="4279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D1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89520" y="42611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02A36"/>
                </a:solidFill>
              </a:rPr>
              <a:t>The cleaned data is reused for charts, forecasts, KPI cards and export views.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96112" y="4882896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9264" y="501091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A36"/>
                </a:solidFill>
              </a:rPr>
              <a:t>Frontend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9264" y="514807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7084"/>
                </a:solidFill>
              </a:rPr>
              <a:t>Streamlit + custom CSS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044952" y="4882896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18104" y="501091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A36"/>
                </a:solidFill>
              </a:rPr>
              <a:t>Data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18104" y="514807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7084"/>
                </a:solidFill>
              </a:rPr>
              <a:t>Pandas / NumPy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193792" y="4882896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66944" y="501091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A36"/>
                </a:solidFill>
              </a:rPr>
              <a:t>Charts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66944" y="514807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7084"/>
                </a:solidFill>
              </a:rPr>
              <a:t>Plotly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342632" y="4882896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15784" y="501091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A36"/>
                </a:solidFill>
              </a:rPr>
              <a:t>ML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15784" y="514807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7084"/>
                </a:solidFill>
              </a:rPr>
              <a:t>scikit-learn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9491472" y="4882896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564624" y="501091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A36"/>
                </a:solidFill>
              </a:rPr>
              <a:t>State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564624" y="514807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7084"/>
                </a:solidFill>
              </a:rPr>
              <a:t>session_state</a:t>
            </a:r>
            <a:endParaRPr lang="en-US" sz="88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6265" y="1615044"/>
            <a:ext cx="11008426" cy="35863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0" dirty="0">
                <a:solidFill>
                  <a:schemeClr val="tx1"/>
                </a:solidFill>
              </a:rPr>
              <a:t>       3.Front-end Developer</a:t>
            </a:r>
          </a:p>
        </p:txBody>
      </p:sp>
    </p:spTree>
    <p:extLst>
      <p:ext uri="{BB962C8B-B14F-4D97-AF65-F5344CB8AC3E}">
        <p14:creationId xmlns:p14="http://schemas.microsoft.com/office/powerpoint/2010/main" val="3177934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TEAM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b="1" dirty="0" smtClean="0">
              <a:solidFill>
                <a:srgbClr val="202A36"/>
              </a:solidFill>
            </a:endParaRPr>
          </a:p>
          <a:p>
            <a:pPr marL="0" indent="0">
              <a:buNone/>
            </a:pPr>
            <a:r>
              <a:rPr lang="en-US" sz="2300" b="1" dirty="0" smtClean="0">
                <a:solidFill>
                  <a:srgbClr val="202A36"/>
                </a:solidFill>
              </a:rPr>
              <a:t>How </a:t>
            </a:r>
            <a:r>
              <a:rPr lang="en-US" sz="2300" b="1" dirty="0">
                <a:solidFill>
                  <a:srgbClr val="202A36"/>
                </a:solidFill>
              </a:rPr>
              <a:t>the work was divided across the group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10972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8366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02544"/>
                </a:solidFill>
              </a:rPr>
              <a:t>1. Research and requirements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3474720" y="1883664"/>
            <a:ext cx="786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A36"/>
                </a:solidFill>
              </a:rPr>
              <a:t>Interpreting the brief, defining scope, identifying goals and preparing the project narrative.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13232" y="2542032"/>
            <a:ext cx="10972800" cy="68580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883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02544"/>
                </a:solidFill>
              </a:rPr>
              <a:t>2. Front-end UI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2999232" y="268833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A36"/>
                </a:solidFill>
              </a:rPr>
              <a:t>Designing navigation, controls, page layout and user interaction flow.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13232" y="3346704"/>
            <a:ext cx="10972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4930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02544"/>
                </a:solidFill>
              </a:rPr>
              <a:t>3. Back-end processing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2999232" y="3493008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A36"/>
                </a:solidFill>
              </a:rPr>
              <a:t>Loading, cleaning, merging and filtering different CSV structures.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13232" y="4151376"/>
            <a:ext cx="10972800" cy="68580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297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02544"/>
                </a:solidFill>
              </a:rPr>
              <a:t>4. Data visualisation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2999232" y="4297680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A36"/>
                </a:solidFill>
              </a:rPr>
              <a:t>Building charts and choosing how results are presented clearly.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13232" y="4956048"/>
            <a:ext cx="10972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510235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02544"/>
                </a:solidFill>
              </a:rPr>
              <a:t>5. Model evaluation and integration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2999232" y="510235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A36"/>
                </a:solidFill>
              </a:rPr>
              <a:t>Comparing models, testing outputs and connecting the workflow end to end.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UI 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2A36"/>
                </a:solidFill>
              </a:rPr>
              <a:t>Front-end UI and interaction design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17084"/>
                </a:solidFill>
              </a:rPr>
              <a:t>The interface is supported by page logic and controls in code, not only by the final screenshots.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618942" y="1642283"/>
            <a:ext cx="5413248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55647"/>
            <a:ext cx="1700784" cy="329183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5"/>
            <a:ext cx="1463040" cy="150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Running interface</a:t>
            </a:r>
            <a:endParaRPr lang="en-US" sz="950" dirty="0"/>
          </a:p>
        </p:txBody>
      </p:sp>
      <p:pic>
        <p:nvPicPr>
          <p:cNvPr id="8" name="Image 0" descr="/mnt/data/700f89e5-79bb-4162-a031-8fd301a68f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253" y="2185905"/>
            <a:ext cx="3218505" cy="1732951"/>
          </a:xfrm>
          <a:prstGeom prst="rect">
            <a:avLst/>
          </a:prstGeom>
        </p:spPr>
      </p:pic>
      <p:pic>
        <p:nvPicPr>
          <p:cNvPr id="9" name="Image 1" descr="/mnt/data/0ad79ae4-e15d-4d9f-a2ad-4f4cc3d966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54" y="4144476"/>
            <a:ext cx="2496191" cy="1265350"/>
          </a:xfrm>
          <a:prstGeom prst="rect">
            <a:avLst/>
          </a:prstGeom>
        </p:spPr>
      </p:pic>
      <p:pic>
        <p:nvPicPr>
          <p:cNvPr id="10" name="Image 2" descr="/mnt/data/a22f29c5-3fd3-476c-bb66-13681e0637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845" y="4199646"/>
            <a:ext cx="2697946" cy="120190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99632" y="1664208"/>
            <a:ext cx="5413248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199632" y="1759819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217920" y="175564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UI evidence in code</a:t>
            </a:r>
            <a:endParaRPr lang="en-US" sz="950" dirty="0"/>
          </a:p>
        </p:txBody>
      </p:sp>
      <p:pic>
        <p:nvPicPr>
          <p:cNvPr id="14" name="Image 3" descr="/mnt/data/8af83a7176be867ff15ceb4a4d58ed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347" y="1983928"/>
            <a:ext cx="4186990" cy="1703264"/>
          </a:xfrm>
          <a:prstGeom prst="rect">
            <a:avLst/>
          </a:prstGeom>
        </p:spPr>
      </p:pic>
      <p:pic>
        <p:nvPicPr>
          <p:cNvPr id="15" name="Image 4" descr="/mnt/data/6fe0d813448847991ddbef40375874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347" y="3749039"/>
            <a:ext cx="4186990" cy="170326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73952" y="5440680"/>
            <a:ext cx="1280160" cy="607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66D1"/>
                </a:solidFill>
              </a:rPr>
              <a:t>What this shows</a:t>
            </a:r>
            <a:endParaRPr lang="en-US" sz="1280" dirty="0"/>
          </a:p>
        </p:txBody>
      </p:sp>
      <p:sp>
        <p:nvSpPr>
          <p:cNvPr id="17" name="Text 10"/>
          <p:cNvSpPr/>
          <p:nvPr/>
        </p:nvSpPr>
        <p:spPr>
          <a:xfrm>
            <a:off x="7662672" y="5486400"/>
            <a:ext cx="365760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202A36"/>
                </a:solidFill>
              </a:rPr>
              <a:t>Sidebar routing and workspace switching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202A36"/>
                </a:solidFill>
              </a:rPr>
              <a:t>CSV upload, model selection and date controls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202A36"/>
                </a:solidFill>
              </a:rPr>
              <a:t>Basic validation and page-specific rendering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HISTORICAL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2A36"/>
                </a:solidFill>
              </a:rPr>
              <a:t>What the dashboard reveals from historical sales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17084"/>
                </a:solidFill>
              </a:rPr>
              <a:t>The historical workspace turns the cleaned dataset into product comparisons, ranked summaries and short-term pattern detection.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400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0512"/>
            <a:ext cx="242316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6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Historical analysis with two CSV files loaded</a:t>
            </a:r>
            <a:endParaRPr lang="en-US" sz="950" dirty="0"/>
          </a:p>
        </p:txBody>
      </p:sp>
      <p:pic>
        <p:nvPicPr>
          <p:cNvPr id="8" name="Image 0" descr="/mnt/data/0ad79ae4-e15d-4d9f-a2ad-4f4cc3d966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85929"/>
            <a:ext cx="5961888" cy="317310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78040" y="1664208"/>
            <a:ext cx="443484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24928" y="181051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1865376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Interpretation points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24928" y="2121408"/>
            <a:ext cx="37490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02A36"/>
                </a:solidFill>
              </a:rPr>
              <a:t>Food and coffee are shown in separate sections, which reduces clutter and makes product behaviour easier to compare.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02A36"/>
                </a:solidFill>
              </a:rPr>
              <a:t>The ranked sales summary quickly identifies the strongest items in the active history range.</a:t>
            </a:r>
            <a:endParaRPr lang="en-US" sz="1310" dirty="0"/>
          </a:p>
        </p:txBody>
      </p:sp>
      <p:sp>
        <p:nvSpPr>
          <p:cNvPr id="13" name="Shape 10"/>
          <p:cNvSpPr/>
          <p:nvPr/>
        </p:nvSpPr>
        <p:spPr>
          <a:xfrm>
            <a:off x="7178040" y="4059936"/>
            <a:ext cx="4434840" cy="2130552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24928" y="420624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261104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Pattern example</a:t>
            </a:r>
            <a:endParaRPr lang="en-US" sz="950" dirty="0"/>
          </a:p>
        </p:txBody>
      </p:sp>
      <p:pic>
        <p:nvPicPr>
          <p:cNvPr id="16" name="Image 1" descr="/mnt/data/c87d241bc10807160df913fce5e9c6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943" y="4498848"/>
            <a:ext cx="1706482" cy="12984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64040" y="45537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202A36"/>
                </a:solidFill>
              </a:rPr>
              <a:t>A focused comparison of Americano and Cappuccino helps explain why users need both trend views and product selection controls.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6265" y="1615044"/>
            <a:ext cx="11008426" cy="35863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400" dirty="0">
                <a:solidFill>
                  <a:schemeClr val="tx1"/>
                </a:solidFill>
              </a:rPr>
              <a:t>       4.Back-end /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348594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VISUALISATION 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b="1" dirty="0" smtClean="0">
              <a:solidFill>
                <a:srgbClr val="202A36"/>
              </a:solidFill>
            </a:endParaRPr>
          </a:p>
          <a:p>
            <a:pPr marL="0" indent="0">
              <a:buNone/>
            </a:pPr>
            <a:r>
              <a:rPr lang="en-US" sz="2300" b="1" dirty="0" smtClean="0">
                <a:solidFill>
                  <a:srgbClr val="202A36"/>
                </a:solidFill>
              </a:rPr>
              <a:t>How </a:t>
            </a:r>
            <a:r>
              <a:rPr lang="en-US" sz="2300" b="1" dirty="0">
                <a:solidFill>
                  <a:srgbClr val="202A36"/>
                </a:solidFill>
              </a:rPr>
              <a:t>the chart layer improves interpretation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794760" cy="452628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051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Historical trend chart</a:t>
            </a:r>
            <a:endParaRPr lang="en-US" sz="950" dirty="0"/>
          </a:p>
        </p:txBody>
      </p:sp>
      <p:pic>
        <p:nvPicPr>
          <p:cNvPr id="8" name="Image 0" descr="/mnt/data/c87d241bc10807160df913fce5e9c6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10" y="2103120"/>
            <a:ext cx="2824108" cy="2148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52628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A36"/>
                </a:solidFill>
              </a:rPr>
              <a:t>This kind of line chart helps the user compare the stability and fluctuation of two products over the same period.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53712" y="1664208"/>
            <a:ext cx="3794760" cy="452628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181051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4608" y="186537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Weekly pattern chart</a:t>
            </a:r>
            <a:endParaRPr lang="en-US" sz="950" dirty="0"/>
          </a:p>
        </p:txBody>
      </p:sp>
      <p:pic>
        <p:nvPicPr>
          <p:cNvPr id="13" name="Image 1" descr="/mnt/data/93eaeb84519916564957ae10c906f3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84379"/>
            <a:ext cx="3337560" cy="19863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9744" y="452628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A36"/>
                </a:solidFill>
              </a:rPr>
              <a:t>A weekday distribution provides a different view of demand by summarising repeated weekly behaviour rather than only showing a raw time series.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540496" y="1664208"/>
            <a:ext cx="3072384" cy="4526280"/>
          </a:xfrm>
          <a:prstGeom prst="roundRect">
            <a:avLst>
              <a:gd name="adj" fmla="val 1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59952" y="181051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33104" y="1865376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Visualisation role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741664" y="2139696"/>
            <a:ext cx="237744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202A36"/>
                </a:solidFill>
              </a:rPr>
              <a:t>Line charts explain movement over time.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202A36"/>
                </a:solidFill>
              </a:rPr>
              <a:t>Bar charts explain comparison and distribution.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202A36"/>
                </a:solidFill>
              </a:rPr>
              <a:t>Graph, table or both modes support different user preferences.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202A36"/>
                </a:solidFill>
              </a:rPr>
              <a:t>Forecast shading makes the prediction window immediately visible.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BACK-END 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b="1" dirty="0" smtClean="0">
              <a:solidFill>
                <a:srgbClr val="202A36"/>
              </a:solidFill>
            </a:endParaRPr>
          </a:p>
          <a:p>
            <a:pPr marL="0" indent="0">
              <a:buNone/>
            </a:pPr>
            <a:r>
              <a:rPr lang="en-US" sz="2300" b="1" dirty="0" smtClean="0">
                <a:solidFill>
                  <a:srgbClr val="202A36"/>
                </a:solidFill>
              </a:rPr>
              <a:t>CSV </a:t>
            </a:r>
            <a:r>
              <a:rPr lang="en-US" sz="2300" b="1" dirty="0">
                <a:solidFill>
                  <a:srgbClr val="202A36"/>
                </a:solidFill>
              </a:rPr>
              <a:t>ingestion and preprocessing pipeline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703320" cy="452628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051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Back-end process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306324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2A36"/>
                </a:solidFill>
              </a:rPr>
              <a:t>The system accepts two different CSV structures rather than one perfectly uniform input.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2A36"/>
                </a:solidFill>
              </a:rPr>
              <a:t>The coffee file is converted from a wide layout into a long table using a melt step.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2A36"/>
                </a:solidFill>
              </a:rPr>
              <a:t>The food file is renamed and enriched with Product_Name so both sources share the same schema.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2A36"/>
                </a:solidFill>
              </a:rPr>
              <a:t>After cleaning, both files are merged, sorted and filtered before any chart or forecast is created.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22960" y="49194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02544"/>
                </a:solidFill>
              </a:rPr>
              <a:t>Key output: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691640" y="488289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02A36"/>
                </a:solidFill>
              </a:rPr>
              <a:t>Date + Product_Name + Category + Sales_Volume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498848" y="1664208"/>
            <a:ext cx="3657600" cy="4526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81051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865376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Code evidence</a:t>
            </a:r>
            <a:endParaRPr lang="en-US" sz="950" dirty="0"/>
          </a:p>
        </p:txBody>
      </p:sp>
      <p:pic>
        <p:nvPicPr>
          <p:cNvPr id="14" name="Image 0" descr="/mnt/data/9e3ba6ba-16af-4498-818a-11701a444e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096" y="4005072"/>
            <a:ext cx="3029959" cy="1783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700016" y="2084832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A36"/>
                </a:solidFill>
              </a:rPr>
              <a:t>After preprocessing, the cleaned records are available in the Data Centre page for inspection and export.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00016" y="2724912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17084"/>
                </a:solidFill>
              </a:rPr>
              <a:t>Separate VS Code testing was also used to confirm that the same pipeline could correctly parse and unify the two source files before the dashboard used them.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8366760" y="1664208"/>
            <a:ext cx="3246120" cy="452628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613648" y="181051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0" y="1865376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Why it matters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41080" y="2139696"/>
            <a:ext cx="25603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A forecast is only credible if the input data is consistent.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Showing preprocessing evidence makes the back-end contribution concrete.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This also explains how one uploaded dataset can feed multiple pages in the app.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FORECASTING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2A36"/>
                </a:solidFill>
              </a:rPr>
              <a:t>From training window to 4-week output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17084"/>
                </a:solidFill>
              </a:rPr>
              <a:t>The forecast page combines user controls, model output and forecast KPIs in one workspace.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4465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051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6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Forecast Studio</a:t>
            </a:r>
            <a:endParaRPr lang="en-US" sz="950" dirty="0"/>
          </a:p>
        </p:txBody>
      </p:sp>
      <p:pic>
        <p:nvPicPr>
          <p:cNvPr id="8" name="Image 0" descr="/mnt/data/a22f29c5-3fd3-476c-bb66-13681e0637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498640"/>
            <a:ext cx="6007608" cy="29031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664208"/>
            <a:ext cx="4389120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61504" y="1810512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34656" y="1865376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Training-window effect</a:t>
            </a:r>
            <a:endParaRPr lang="en-US" sz="950" dirty="0"/>
          </a:p>
        </p:txBody>
      </p:sp>
      <p:pic>
        <p:nvPicPr>
          <p:cNvPr id="12" name="Image 1" descr="/mnt/data/3e8bbecc460ad2918d188aff6b73c7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517" y="2048256"/>
            <a:ext cx="1632750" cy="12984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223760" y="3986784"/>
            <a:ext cx="4389120" cy="2203704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61504" y="4133088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534656" y="4187952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How to explain it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461504" y="4443984"/>
            <a:ext cx="37490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02A36"/>
                </a:solidFill>
              </a:rPr>
              <a:t>Users can change the training period instead of relying on one fixed history range.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02A36"/>
                </a:solidFill>
              </a:rPr>
              <a:t>The page shows actual sales, predicted sales and model metrics at the same time.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02A36"/>
                </a:solidFill>
              </a:rPr>
              <a:t>This makes the forecast easier to trust and easier to discuss during the demo.</a:t>
            </a:r>
            <a:endParaRPr lang="en-US" sz="13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27511" y="1615044"/>
            <a:ext cx="11008426" cy="35863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/>
                <a:cs typeface="+mn-cs"/>
              </a:rPr>
              <a:t>              5.</a:t>
            </a:r>
            <a:r>
              <a:rPr lang="en-US" altLang="zh-CN" sz="5400" dirty="0">
                <a:solidFill>
                  <a:schemeClr val="tx1"/>
                </a:solidFill>
              </a:rPr>
              <a:t>QA &amp; Evaluation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panose="020B0502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3238336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MODEL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b="1" dirty="0" smtClean="0">
              <a:solidFill>
                <a:srgbClr val="202A36"/>
              </a:solidFill>
            </a:endParaRPr>
          </a:p>
          <a:p>
            <a:pPr marL="0" indent="0">
              <a:buNone/>
            </a:pPr>
            <a:r>
              <a:rPr lang="en-US" sz="2300" b="1" dirty="0" smtClean="0">
                <a:solidFill>
                  <a:srgbClr val="202A36"/>
                </a:solidFill>
              </a:rPr>
              <a:t>Why </a:t>
            </a:r>
            <a:r>
              <a:rPr lang="en-US" sz="2300" b="1" dirty="0">
                <a:solidFill>
                  <a:srgbClr val="202A36"/>
                </a:solidFill>
              </a:rPr>
              <a:t>the forecast is credible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1262" y="1555668"/>
            <a:ext cx="6516466" cy="463482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051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Evaluation workspace</a:t>
            </a:r>
            <a:endParaRPr lang="en-US" sz="950" dirty="0"/>
          </a:p>
        </p:txBody>
      </p:sp>
      <p:pic>
        <p:nvPicPr>
          <p:cNvPr id="8" name="Image 0" descr="/mnt/data/bceb599a-3bee-4205-8c0f-608ad8873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354612"/>
            <a:ext cx="5961888" cy="31729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78040" y="1664208"/>
            <a:ext cx="4434840" cy="215798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24928" y="181051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1865376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Key message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24928" y="2103120"/>
            <a:ext cx="3730752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Linear Regression performs best on this dataset because its average RMSE and MAE are lowest.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Random Forest remains useful, but it is less accurate here.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The 7-day moving average acts as a baseline reference rather than the final choice.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7178040" y="4059936"/>
            <a:ext cx="4434840" cy="2130552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24928" y="420624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261104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Presentation line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24928" y="45857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02544"/>
                </a:solidFill>
                <a:latin typeface="+mj-ea"/>
                <a:ea typeface="+mj-ea"/>
              </a:rPr>
              <a:t>We compare models before choosing the forecast.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424928" y="5102352"/>
            <a:ext cx="3730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617084"/>
                </a:solidFill>
              </a:rPr>
              <a:t>This single sentence is useful in the presentation because it turns evaluation into a clear reason for trust.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DATA TRANSPARENCY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2A36"/>
                </a:solidFill>
              </a:rPr>
              <a:t>How processed data appears inside the dashboard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17084"/>
                </a:solidFill>
              </a:rPr>
              <a:t>The app does not hide its input records; it also allows users to inspect and export the cleaned dataset.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5379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051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6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Data Centre page</a:t>
            </a:r>
            <a:endParaRPr lang="en-US" sz="950" dirty="0"/>
          </a:p>
        </p:txBody>
      </p:sp>
      <p:pic>
        <p:nvPicPr>
          <p:cNvPr id="8" name="Image 0" descr="/mnt/data/9e3ba6ba-16af-4498-818a-11701a444e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137327"/>
            <a:ext cx="6099048" cy="35891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33488" y="1664208"/>
            <a:ext cx="4279392" cy="4526280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71232" y="1810512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44384" y="1865376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Why this matters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71232" y="2139696"/>
            <a:ext cx="3584448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Users can confirm what rows are included in the active history range.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The export option shows that the cleaned dataset is not hidden inside the code.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This supports reproducibility because the same processed table can be checked outside the app.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2A36"/>
                </a:solidFill>
              </a:rPr>
              <a:t>For the presentation, it proves that KPI cards and charts are backed by visible records.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7635240" y="4882896"/>
            <a:ext cx="3657600" cy="676656"/>
          </a:xfrm>
          <a:prstGeom prst="roundRect">
            <a:avLst>
              <a:gd name="adj" fmla="val 5405"/>
            </a:avLst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5102352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Visible data makes the dashboard more trustworthy.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6D1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b="1" dirty="0" smtClean="0">
              <a:solidFill>
                <a:srgbClr val="202A36"/>
              </a:solidFill>
            </a:endParaRPr>
          </a:p>
          <a:p>
            <a:pPr marL="0" indent="0">
              <a:buNone/>
            </a:pPr>
            <a:r>
              <a:rPr lang="en-US" sz="2300" b="1" dirty="0" smtClean="0">
                <a:solidFill>
                  <a:srgbClr val="202A36"/>
                </a:solidFill>
              </a:rPr>
              <a:t>Bringing </a:t>
            </a:r>
            <a:r>
              <a:rPr lang="en-US" sz="2300" b="1" dirty="0">
                <a:solidFill>
                  <a:srgbClr val="202A36"/>
                </a:solidFill>
              </a:rPr>
              <a:t>the technical and business stories together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49224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0512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Final summary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139696"/>
            <a:ext cx="56692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202A36"/>
                </a:solidFill>
              </a:rPr>
              <a:t>The dashboard turns uploaded sales files into a complete workflow: clean data, analyse history, forecast demand, compare models and export results.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202A36"/>
                </a:solidFill>
              </a:rPr>
              <a:t>The interface is modular, so each team member can explain one clear section without losing the overall story.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202A36"/>
                </a:solidFill>
              </a:rPr>
              <a:t>UI evidence, back-end validation and visualisation logic make the system feel concrete instead of lightweight.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202A36"/>
                </a:solidFill>
              </a:rPr>
              <a:t>A logical next step would be adding external variables such as weather, promotions or holidays to improve prediction quality.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1133856" y="5184648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96912" y="1664208"/>
            <a:ext cx="4315968" cy="4526280"/>
          </a:xfrm>
          <a:prstGeom prst="roundRect">
            <a:avLst>
              <a:gd name="adj" fmla="val 1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16368" y="1735667"/>
            <a:ext cx="1325880" cy="239437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735667"/>
            <a:ext cx="1179576" cy="2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544"/>
                </a:solidFill>
              </a:rPr>
              <a:t>System snapshots</a:t>
            </a:r>
            <a:endParaRPr lang="en-US" sz="950" dirty="0"/>
          </a:p>
        </p:txBody>
      </p:sp>
      <p:pic>
        <p:nvPicPr>
          <p:cNvPr id="14" name="Image 0" descr="/mnt/data/700f89e5-79bb-4162-a031-8fd301a68f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289" y="1986812"/>
            <a:ext cx="2717010" cy="1472554"/>
          </a:xfrm>
          <a:prstGeom prst="rect">
            <a:avLst/>
          </a:prstGeom>
        </p:spPr>
      </p:pic>
      <p:pic>
        <p:nvPicPr>
          <p:cNvPr id="15" name="Image 1" descr="/mnt/data/a22f29c5-3fd3-476c-bb66-13681e0637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289" y="3465168"/>
            <a:ext cx="2717010" cy="1312977"/>
          </a:xfrm>
          <a:prstGeom prst="rect">
            <a:avLst/>
          </a:prstGeom>
        </p:spPr>
      </p:pic>
      <p:pic>
        <p:nvPicPr>
          <p:cNvPr id="16" name="Image 2" descr="/mnt/data/bceb599a-3bee-4205-8c0f-608ad887388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5289" y="4778145"/>
            <a:ext cx="2717010" cy="14123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65976"/>
            <a:ext cx="201168" cy="10058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4A98640E-DF1D-2A70-F046-422B10F8FFFB}"/>
              </a:ext>
            </a:extLst>
          </p:cNvPr>
          <p:cNvSpPr/>
          <p:nvPr/>
        </p:nvSpPr>
        <p:spPr>
          <a:xfrm>
            <a:off x="415636" y="1206830"/>
            <a:ext cx="11269683" cy="4327071"/>
          </a:xfrm>
          <a:prstGeom prst="roundRect">
            <a:avLst>
              <a:gd name="adj" fmla="val 5556"/>
            </a:avLst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4BD2D7-8C1A-8141-6C09-979693039BE4}"/>
              </a:ext>
            </a:extLst>
          </p:cNvPr>
          <p:cNvSpPr txBox="1"/>
          <p:nvPr/>
        </p:nvSpPr>
        <p:spPr>
          <a:xfrm>
            <a:off x="2256312" y="2785590"/>
            <a:ext cx="8775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Thank you for listening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159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红利">
  <a:themeElements>
    <a:clrScheme name="红利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159</TotalTime>
  <Words>1571</Words>
  <Application>Microsoft Office PowerPoint</Application>
  <PresentationFormat>宽屏</PresentationFormat>
  <Paragraphs>218</Paragraphs>
  <Slides>19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Gill Sans MT</vt:lpstr>
      <vt:lpstr>Wingdings 2</vt:lpstr>
      <vt:lpstr>等线</vt:lpstr>
      <vt:lpstr>华文中宋</vt:lpstr>
      <vt:lpstr>红利</vt:lpstr>
      <vt:lpstr>PowerPoint 演示文稿</vt:lpstr>
      <vt:lpstr>PowerPoint 演示文稿</vt:lpstr>
      <vt:lpstr>PowerPoint 演示文稿</vt:lpstr>
      <vt:lpstr>PowerPoint 演示文稿</vt:lpstr>
      <vt:lpstr>Team Roles and Collaboration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Bristol-Pink Bakery Sales Prediction Dashboard</dc:title>
  <dc:subject>Bristol-Pink Bakery Sales Prediction Dashboard</dc:subject>
  <dc:creator>OpenAI</dc:creator>
  <cp:lastModifiedBy>Administrator</cp:lastModifiedBy>
  <cp:revision>16</cp:revision>
  <dcterms:created xsi:type="dcterms:W3CDTF">2026-03-14T01:34:09Z</dcterms:created>
  <dcterms:modified xsi:type="dcterms:W3CDTF">2026-03-28T20:30:32Z</dcterms:modified>
</cp:coreProperties>
</file>